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20"/>
  </p:notesMasterIdLst>
  <p:sldIdLst>
    <p:sldId id="256" r:id="rId2"/>
    <p:sldId id="264" r:id="rId3"/>
    <p:sldId id="280" r:id="rId4"/>
    <p:sldId id="293" r:id="rId5"/>
    <p:sldId id="296" r:id="rId6"/>
    <p:sldId id="301" r:id="rId7"/>
    <p:sldId id="302" r:id="rId8"/>
    <p:sldId id="294" r:id="rId9"/>
    <p:sldId id="297" r:id="rId10"/>
    <p:sldId id="298" r:id="rId11"/>
    <p:sldId id="303" r:id="rId12"/>
    <p:sldId id="305" r:id="rId13"/>
    <p:sldId id="304" r:id="rId14"/>
    <p:sldId id="300" r:id="rId15"/>
    <p:sldId id="291" r:id="rId16"/>
    <p:sldId id="299" r:id="rId17"/>
    <p:sldId id="306" r:id="rId18"/>
    <p:sldId id="295" r:id="rId1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8D6D4C1-D4D6-47E1-B749-63B1EBC842D5}">
          <p14:sldIdLst>
            <p14:sldId id="256"/>
            <p14:sldId id="264"/>
            <p14:sldId id="280"/>
            <p14:sldId id="293"/>
            <p14:sldId id="296"/>
            <p14:sldId id="301"/>
            <p14:sldId id="302"/>
            <p14:sldId id="294"/>
            <p14:sldId id="297"/>
            <p14:sldId id="298"/>
            <p14:sldId id="303"/>
          </p14:sldIdLst>
        </p14:section>
        <p14:section name="Untitled Section" id="{12B5846E-051E-4A73-8427-E5116896C0B7}">
          <p14:sldIdLst>
            <p14:sldId id="305"/>
            <p14:sldId id="304"/>
            <p14:sldId id="300"/>
            <p14:sldId id="291"/>
            <p14:sldId id="299"/>
            <p14:sldId id="306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>
      <p:cViewPr varScale="1">
        <p:scale>
          <a:sx n="78" d="100"/>
          <a:sy n="78" d="100"/>
        </p:scale>
        <p:origin x="629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914400" y="320040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400800" y="3200400"/>
            <a:ext cx="52832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Supervised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6400800" y="3886200"/>
            <a:ext cx="5283200" cy="2209800"/>
          </a:xfrm>
        </p:spPr>
        <p:txBody>
          <a:bodyPr>
            <a:normAutofit/>
          </a:bodyPr>
          <a:lstStyle>
            <a:lvl1pPr algn="ctr">
              <a:buNone/>
              <a:defRPr sz="27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.int/data/gho/publications/world-health-statistics" TargetMode="Externa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>
              <a:defRPr/>
            </a:pPr>
            <a:r>
              <a:rPr lang="en-US" dirty="0">
                <a:solidFill>
                  <a:srgbClr val="7030A0"/>
                </a:solidFill>
              </a:rPr>
              <a:t>Non-Invasive Blood Pressure Estimation Using Photoplethysmography &amp; IoT-AL Integration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66800" y="3810000"/>
            <a:ext cx="4800600" cy="3048000"/>
          </a:xfrm>
        </p:spPr>
        <p:txBody>
          <a:bodyPr rtlCol="0">
            <a:normAutofit/>
          </a:bodyPr>
          <a:lstStyle/>
          <a:p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Ridwan Sharif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213-15-4381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10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0" y="3810000"/>
            <a:ext cx="4724400" cy="2590800"/>
          </a:xfrm>
        </p:spPr>
        <p:txBody>
          <a:bodyPr>
            <a:normAutofit/>
          </a:bodyPr>
          <a:lstStyle/>
          <a:p>
            <a:pPr eaLnBrk="1" hangingPunct="1"/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Arif Mahmud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Associate Professor &amp; Associate Head 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 </a:t>
            </a: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Daffodil International University</a:t>
            </a:r>
          </a:p>
          <a:p>
            <a:pPr eaLnBrk="1" hangingPunct="1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and Uniqueness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Context: The need for Blood Pressure(BP) 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has grown, as hypertension is a leading cause of cardiovascular disease.[1]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GB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Aim: To design an IoT-based, non-invasive BP monitoring system using photoplethysmography (PPG) signals and machine learning models.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GB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System Components: </a:t>
            </a: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device with MAX30102 PPG sensor, ESP32 microcontroller, and Machine Learning for BP prediction.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Undertake a critical evaluation of state-of-the-art in PPG-based blood pressure measurement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end-to-end system architecture combining wearable PPG sensors, IoT protocols, and cloud-based AI models.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signal processing pipeline for PPG data &amp;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 an ML/DL model architecture for accurate Systolic and Diastolic Blood Pressure (SBP/DBP) prediction.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87376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D0EB38-BEA2-EC4E-E78E-84626BD34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375380"/>
              </p:ext>
            </p:extLst>
          </p:nvPr>
        </p:nvGraphicFramePr>
        <p:xfrm>
          <a:off x="266700" y="1143000"/>
          <a:ext cx="116586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25201022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6686149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066099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496104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48987420"/>
                    </a:ext>
                  </a:extLst>
                </a:gridCol>
              </a:tblGrid>
              <a:tr h="51072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Author(s)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Year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Title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Methodology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Key Findings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extLst>
                  <a:ext uri="{0D108BD9-81ED-4DB2-BD59-A6C34878D82A}">
                    <a16:rowId xmlns:a16="http://schemas.microsoft.com/office/drawing/2014/main" val="4105698044"/>
                  </a:ext>
                </a:extLst>
              </a:tr>
              <a:tr h="21562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Dai, D. et al.[2]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2024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Non-Invasive Continuous Blood Pressure Estimation from Single-Channel PPG Based on a Temporal Convolutional Network Integrated with an Attention Mechanism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TCN with Convolutional Block Attention Module (CBAM) on the UCI dataset.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DBP estimation met the AAMI standard (MAE 2.12 mmHg); SBP did not (MAE 5.35 mmHg). TCN-CBAM outperformed other ML/DL models.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60026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Tarifi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, B. et al.[3]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2023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 Machine Learning Approach to the Non-Invasive Estimation of Continuous Blood Pressure Using Photoplethysmography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Four neural networks for SBP, DBP, MAP, and waveform prediction on MIMIC-III data.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SBP (MAE 5.26 mmHg) and DBP (MAE 2.96 mmHg) results met international standards. Novel separation of discrete value prediction from waveform shape prediction.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6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977B-C468-D3CA-190B-1F1B03B5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1E10-55A4-9105-207E-8E8A90B3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B3F00-A70E-CEDF-7964-1DDE3A0A7D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0A795B-FF31-4609-9A6A-3BBFAEE1F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886560"/>
              </p:ext>
            </p:extLst>
          </p:nvPr>
        </p:nvGraphicFramePr>
        <p:xfrm>
          <a:off x="266700" y="1143000"/>
          <a:ext cx="116586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25201022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6686149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066099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496104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48987420"/>
                    </a:ext>
                  </a:extLst>
                </a:gridCol>
              </a:tblGrid>
              <a:tr h="51072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Author(s)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Year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Title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Methodology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Key Findings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extLst>
                  <a:ext uri="{0D108BD9-81ED-4DB2-BD59-A6C34878D82A}">
                    <a16:rowId xmlns:a16="http://schemas.microsoft.com/office/drawing/2014/main" val="4105698044"/>
                  </a:ext>
                </a:extLst>
              </a:tr>
              <a:tr h="21562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Wong, M. K. F. et al.[4]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2023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Applied machine learning for blood pressure estimation using a small, real-world electrocardiogram and </a:t>
                      </a: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photoplethysmogram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 dataset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Compared RF, SVR, </a:t>
                      </a: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Adaboost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, and ANN on a small, noisy dataset (n=54) using ECG+PPG features.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SVR performed best on noisy data (MAE 6.97 mmHg), meeting BHS Level C criteria. Demonstrated feasibility on real-world ambulatory data.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60026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Mohammadi, H. et al.[5]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2025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Cuff-less blood pressure monitoring via PPG signals using a hybrid CNN-BiLSTM deep learning model with an attention mechanism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Hybrid CNN-BiLSTM with attention mechanism on a large MIMIC-II dataset (2064 patients).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Achieved very high accuracy with MAE of 1.88 mmHg for SBP and 1.34 mmHg for DBP, underscoring potential for scalable wearable solutions.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6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72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5AB53-F83B-3F86-507F-5FDEB350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D463-0DB8-F098-76B1-AF242458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5DF7A-596E-E8E8-900F-75892C4F75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FDF16F-113B-B036-B5C3-9BF50F3B5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005586"/>
              </p:ext>
            </p:extLst>
          </p:nvPr>
        </p:nvGraphicFramePr>
        <p:xfrm>
          <a:off x="266700" y="1143000"/>
          <a:ext cx="11658600" cy="5171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25201022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6686149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066099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496104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48987420"/>
                    </a:ext>
                  </a:extLst>
                </a:gridCol>
              </a:tblGrid>
              <a:tr h="51072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Author(s)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Year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Title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Methodology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Key Findings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extLst>
                  <a:ext uri="{0D108BD9-81ED-4DB2-BD59-A6C34878D82A}">
                    <a16:rowId xmlns:a16="http://schemas.microsoft.com/office/drawing/2014/main" val="4105698044"/>
                  </a:ext>
                </a:extLst>
              </a:tr>
              <a:tr h="21562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Chowdhury, M.H. et al.[6]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2020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Estimating Blood Pressure from the Photoplethysmogram Signal and Demographic Features Using Machine Learning Techniques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Gaussian Process Regression (GPR) with 107 extracted features (demographic, time/frequency domain, statistical).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GPR with ReliefF feature selection yielded high accuracy (RMSE 6.74 SBP, 3.59 DBP). Complied with BHS Grade B.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60026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Slapničar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, G. et al.[7]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2019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Blood Pressure Estimation from Photoplethysmogram Using a Spectro-Temporal Deep Neural Network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Custom ResNet architecture using 5s PPG waveform and its derivatives as input.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MAEs of 9.4 mmHg (SBP) and 6.9 mmHg (DBP) did not meet clinical standards, but the work was a valuable guide due to its large dataset (510 patients) and detailed methodology.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6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13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728FD2F-AE75-6595-52E8-27F254B4A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28397"/>
            <a:ext cx="111252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Calibration Challenges: Most cuffless BP devices still require regular calibration, reducing autonomy and negating seamless monitoring.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and Standardization Issues: Lack of universal validation standards leads to inflated performance claims and unreliable results due to small datasets and data leakage.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Motion Artifacts in Real-World Use: Models trained in controlled settings fail to perform well in real-world conditions due to motion artifacts and poor sensor contact.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Demographic Data: Most models rely only on PPG signals, ignoring key factors like age, gender, and BMI, which affect BP accuracy.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Gaps: Insufficient focus on IoT security and data protection (e.g., HIPAA, GDPR), crucial for handling sensitive health data.</a:t>
            </a: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141BB12-ABB9-B925-BD07-CE00E2A41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9" y="1266111"/>
            <a:ext cx="8229599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Setup: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using the MAX30102 PPG sensor integrated with ESP32 microcontroller.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protocols for secure transmission of PPG data to the cloud.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real-time monitoring and data collection without the need for traditional cuff-based methods.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PPG data is cleaned by removing noise and irrelevant features.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includes extracting heart rate, SpO2, and other vital metrics from the PPG signal.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Models: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Random Forest,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AdaBoost,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BP prediction.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models to combine predictions for improved accuracy.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models using performance metrics such as MAE, RMSE, R², and MAPE.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27C0DD-C0D2-503E-B3BA-E57D25C60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371" y="308327"/>
            <a:ext cx="3189134" cy="5711473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5CB2760C-A2BA-3528-C9AC-A52251D4E835}"/>
              </a:ext>
            </a:extLst>
          </p:cNvPr>
          <p:cNvSpPr txBox="1">
            <a:spLocks/>
          </p:cNvSpPr>
          <p:nvPr/>
        </p:nvSpPr>
        <p:spPr>
          <a:xfrm>
            <a:off x="9372600" y="6005513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l"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1: Proposed Methodology</a:t>
            </a:r>
          </a:p>
        </p:txBody>
      </p:sp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DAED3B55-43D9-D59C-D0D9-32E3916406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graph with blue dots and red lines&#10;&#10;AI-generated content may be incorrect.">
            <a:extLst>
              <a:ext uri="{FF2B5EF4-FFF2-40B4-BE49-F238E27FC236}">
                <a16:creationId xmlns:a16="http://schemas.microsoft.com/office/drawing/2014/main" id="{B5920AF1-C41C-8D8C-38CC-47BDB8EEB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60944"/>
            <a:ext cx="11353800" cy="3103415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CBFF650A-1971-5572-220A-39D439E2AE32}"/>
              </a:ext>
            </a:extLst>
          </p:cNvPr>
          <p:cNvSpPr txBox="1">
            <a:spLocks/>
          </p:cNvSpPr>
          <p:nvPr/>
        </p:nvSpPr>
        <p:spPr>
          <a:xfrm>
            <a:off x="3848100" y="4668192"/>
            <a:ext cx="441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2: Random Forest Performance plot and curve</a:t>
            </a:r>
          </a:p>
        </p:txBody>
      </p:sp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7961D-8D47-493E-B22F-F3F0EA91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66DB-5F77-046D-5BFE-96A440723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E87AF-246C-7F11-B2FA-F9A27AC153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46F54C0-CD9A-5E8E-00C5-8C23CCB3E3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graph with blue dots and red lines&#10;&#10;AI-generated content may be incorrect.">
            <a:extLst>
              <a:ext uri="{FF2B5EF4-FFF2-40B4-BE49-F238E27FC236}">
                <a16:creationId xmlns:a16="http://schemas.microsoft.com/office/drawing/2014/main" id="{292575C1-350B-4658-0743-E0EA52DEF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7800"/>
            <a:ext cx="11734800" cy="32075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AA428A-4B76-C20F-BB21-A5DDC67CDD2D}"/>
              </a:ext>
            </a:extLst>
          </p:cNvPr>
          <p:cNvSpPr txBox="1"/>
          <p:nvPr/>
        </p:nvSpPr>
        <p:spPr>
          <a:xfrm>
            <a:off x="4021328" y="4775490"/>
            <a:ext cx="4360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3: Ada Boost Performance plot and curve</a:t>
            </a:r>
          </a:p>
        </p:txBody>
      </p:sp>
    </p:spTree>
    <p:extLst>
      <p:ext uri="{BB962C8B-B14F-4D97-AF65-F5344CB8AC3E}">
        <p14:creationId xmlns:p14="http://schemas.microsoft.com/office/powerpoint/2010/main" val="2013207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498E-2F52-AAF2-B8A7-EC5175A0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79F4-5341-1046-D7DE-DA123B53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620ED-4CE2-78E1-5F1E-3CCE7782B1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5" name="Picture 4" descr="A graph of a performance comparison&#10;&#10;AI-generated content may be incorrect.">
            <a:extLst>
              <a:ext uri="{FF2B5EF4-FFF2-40B4-BE49-F238E27FC236}">
                <a16:creationId xmlns:a16="http://schemas.microsoft.com/office/drawing/2014/main" id="{77C80597-74D7-08FB-2D3E-48D7AACECA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63992"/>
            <a:ext cx="5338257" cy="3184208"/>
          </a:xfrm>
          <a:prstGeom prst="rect">
            <a:avLst/>
          </a:prstGeom>
        </p:spPr>
      </p:pic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3FF5864-9BF0-8791-0802-E4BFA68C4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354" y="1463992"/>
            <a:ext cx="5595692" cy="33381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EE38C9-6025-884A-80C3-10B187F6E60C}"/>
              </a:ext>
            </a:extLst>
          </p:cNvPr>
          <p:cNvSpPr txBox="1"/>
          <p:nvPr/>
        </p:nvSpPr>
        <p:spPr>
          <a:xfrm>
            <a:off x="972421" y="4753847"/>
            <a:ext cx="3904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4: R-squared model preference Bar Chart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BEEF47-7AB2-D2EF-043A-E312D532210D}"/>
              </a:ext>
            </a:extLst>
          </p:cNvPr>
          <p:cNvSpPr txBox="1"/>
          <p:nvPr/>
        </p:nvSpPr>
        <p:spPr>
          <a:xfrm>
            <a:off x="7141010" y="4802187"/>
            <a:ext cx="3904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4: MAE model preference Bar Chart</a:t>
            </a:r>
          </a:p>
        </p:txBody>
      </p:sp>
    </p:spTree>
    <p:extLst>
      <p:ext uri="{BB962C8B-B14F-4D97-AF65-F5344CB8AC3E}">
        <p14:creationId xmlns:p14="http://schemas.microsoft.com/office/powerpoint/2010/main" val="3381232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7666A-D2D9-39BB-79C8-A4FF15816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580C-774A-572A-B500-0DCFDCCA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F72B-E431-DE5C-D041-527EA8F09A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66E796DE-AC22-ED3F-118B-D0E1B9F5CD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98C77F-520D-4F85-E007-297DBDFBE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27399"/>
              </p:ext>
            </p:extLst>
          </p:nvPr>
        </p:nvGraphicFramePr>
        <p:xfrm>
          <a:off x="800100" y="1811149"/>
          <a:ext cx="10591799" cy="3870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10088">
                  <a:extLst>
                    <a:ext uri="{9D8B030D-6E8A-4147-A177-3AD203B41FA5}">
                      <a16:colId xmlns:a16="http://schemas.microsoft.com/office/drawing/2014/main" val="323051877"/>
                    </a:ext>
                  </a:extLst>
                </a:gridCol>
                <a:gridCol w="951148">
                  <a:extLst>
                    <a:ext uri="{9D8B030D-6E8A-4147-A177-3AD203B41FA5}">
                      <a16:colId xmlns:a16="http://schemas.microsoft.com/office/drawing/2014/main" val="3462009780"/>
                    </a:ext>
                  </a:extLst>
                </a:gridCol>
                <a:gridCol w="1373881">
                  <a:extLst>
                    <a:ext uri="{9D8B030D-6E8A-4147-A177-3AD203B41FA5}">
                      <a16:colId xmlns:a16="http://schemas.microsoft.com/office/drawing/2014/main" val="3018835979"/>
                    </a:ext>
                  </a:extLst>
                </a:gridCol>
                <a:gridCol w="1268198">
                  <a:extLst>
                    <a:ext uri="{9D8B030D-6E8A-4147-A177-3AD203B41FA5}">
                      <a16:colId xmlns:a16="http://schemas.microsoft.com/office/drawing/2014/main" val="2825785107"/>
                    </a:ext>
                  </a:extLst>
                </a:gridCol>
                <a:gridCol w="1479564">
                  <a:extLst>
                    <a:ext uri="{9D8B030D-6E8A-4147-A177-3AD203B41FA5}">
                      <a16:colId xmlns:a16="http://schemas.microsoft.com/office/drawing/2014/main" val="317747841"/>
                    </a:ext>
                  </a:extLst>
                </a:gridCol>
                <a:gridCol w="1508920">
                  <a:extLst>
                    <a:ext uri="{9D8B030D-6E8A-4147-A177-3AD203B41FA5}">
                      <a16:colId xmlns:a16="http://schemas.microsoft.com/office/drawing/2014/main" val="3015469269"/>
                    </a:ext>
                  </a:extLst>
                </a:gridCol>
              </a:tblGrid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 (%)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7428296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175.70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0.191040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7784386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165.73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12.87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0.241600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8.83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2188257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185.26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13.61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0.146234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9.61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6061518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Neural Network (ANN)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168.82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12.99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0.213652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3413132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198.62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14.09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0.107857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1836948"/>
                  </a:ext>
                </a:extLst>
              </a:tr>
              <a:tr h="703811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Neighbors (KNN) Regressor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181.11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0.175010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891880"/>
                  </a:ext>
                </a:extLst>
              </a:tr>
              <a:tr h="703811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Regression (SVR)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194.18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13.93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0.137424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2943282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AdaBoost Regression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170.29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13.04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0.230850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96315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CA8F41-C988-7CAC-486D-FE8C4EE45A8C}"/>
              </a:ext>
            </a:extLst>
          </p:cNvPr>
          <p:cNvSpPr txBox="1"/>
          <p:nvPr/>
        </p:nvSpPr>
        <p:spPr>
          <a:xfrm>
            <a:off x="3543300" y="132288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Performance Analysis Table of Models</a:t>
            </a:r>
          </a:p>
        </p:txBody>
      </p:sp>
    </p:spTree>
    <p:extLst>
      <p:ext uri="{BB962C8B-B14F-4D97-AF65-F5344CB8AC3E}">
        <p14:creationId xmlns:p14="http://schemas.microsoft.com/office/powerpoint/2010/main" val="180378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and Uniqueness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6A2F242-50A3-989C-FE4A-1FD2EB79F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68" y="1782395"/>
            <a:ext cx="110490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Innovative Approach: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 with PPG sensors for continuous blood pressure monitoring.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machine learning and ensemble methods to improve prediction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Uniqueness: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portable and non-invasive, allowing for real-time BP monitoring without the need for traditional cuff-based measurements.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C81F13-9788-D7E7-BE31-71D340E4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97729"/>
            <a:ext cx="1082040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performance, but models struggled due to sensor noise and dataset biases.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Bias: The dataset had a lack of diversity, especially in terms of age and gender.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Quality: The non-medical-grade sensor led to noisy PPG readings.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Upgrade to medical-grade sensors for better data accuracy.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Miniaturize the system to a finger-clip size similar to an oximeter.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models directly onto microcontrollers for on-device inference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0A3B3-C4C8-D937-C000-D8A95AA340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" y="1676400"/>
            <a:ext cx="11049000" cy="3962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[1]  </a:t>
            </a:r>
            <a:r>
              <a:rPr lang="en-GB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Organization. (2021). </a:t>
            </a:r>
            <a:r>
              <a:rPr lang="en-GB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statistics 2021: Monitoring health for the SDGs</a:t>
            </a:r>
            <a:r>
              <a:rPr lang="en-GB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  <a:r>
              <a:rPr lang="en-GB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GB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://www.who.int/data/gho/publications/world-health-statistics</a:t>
            </a:r>
            <a:endParaRPr lang="en-GB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lvl="0" indent="0">
              <a:buNone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[2] Dai, D., Ji, Z., &amp; Wang, H. (2024). Non-Invasive Continuous Blood Pressure Estimation from Single-Channel PPG Based on a Temporal Convolutional Network Integrated with an Attention Mechanism. 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Sciences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14(14), 6061.</a:t>
            </a:r>
          </a:p>
          <a:p>
            <a:pPr marL="0" indent="0" algn="just">
              <a:buNone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Tarifi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B.,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Fainman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Pantanowitz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&amp; Rubin, D. M. (2023). A Machine Learning Approach to the Non-Invasive Estimation of Continuous Blood Pressure Using Photoplethysmography. 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Sciences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13(6), 3955.</a:t>
            </a:r>
          </a:p>
          <a:p>
            <a:pPr marL="0" indent="0" algn="just">
              <a:buNone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Wong, M. K. F., Hei, H., Lim, S. Z., &amp; Ng, E. Y. K. (2023). Applied machine learning for blood pressure estimation using a small, real-world electrocardiogram and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photoplethysmogram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dataset. 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Biosciences and Engineering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20(1), 975-997.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9769B-3A67-47A2-5053-01A8D90B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38BF-AE91-A518-2734-BC390A04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EEA2A-9B46-2C02-1710-16ABF6EDE0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" y="1676400"/>
            <a:ext cx="110490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[5] Mohammadi, H.,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Tarvirdizadeh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B., Alipour, K., &amp;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Ghamari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(2025). Cuff-less blood pressure monitoring via PPG signals using a hybrid CNN-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model with attention mechanism.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Chowdhury, M. H.,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Shuzan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N. I., Chowdhury, M. E., Mahbub, Z. B., Uddin, M. M., Khandakar, A., &amp;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Reaz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B. I. (2020). Estimating Blood Pressure from the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Photoplethysmogram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Signal and Demographic Features Using Machine Learning Techniques.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20(11), 3127.</a:t>
            </a:r>
          </a:p>
          <a:p>
            <a:pPr marL="0" indent="0" algn="just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Slapničar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G., Mlakar, N., &amp;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Luštrek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(2019). Blood Pressure Estimation from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Photoplethysmogram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a Spectro-Temporal Deep Neural Network.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19(15), 3420.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C41D-D5AF-FAF8-5481-1FD20C9130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798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1047</TotalTime>
  <Words>1528</Words>
  <Application>Microsoft Office PowerPoint</Application>
  <PresentationFormat>Widescreen</PresentationFormat>
  <Paragraphs>226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</vt:lpstr>
      <vt:lpstr>Times New Roman</vt:lpstr>
      <vt:lpstr>Wingdings</vt:lpstr>
      <vt:lpstr>New Microsoft PowerPoint Presentation</vt:lpstr>
      <vt:lpstr>Non-Invasive Blood Pressure Estimation Using Photoplethysmography &amp; IoT-AL Integration</vt:lpstr>
      <vt:lpstr>Outline</vt:lpstr>
      <vt:lpstr>Introduction</vt:lpstr>
      <vt:lpstr>Objective</vt:lpstr>
      <vt:lpstr>Background Study</vt:lpstr>
      <vt:lpstr>Background Study</vt:lpstr>
      <vt:lpstr>Background Study</vt:lpstr>
      <vt:lpstr>Gap Analysis</vt:lpstr>
      <vt:lpstr>Methodology</vt:lpstr>
      <vt:lpstr>Result and Analysis</vt:lpstr>
      <vt:lpstr>Result and Analysis</vt:lpstr>
      <vt:lpstr>Result and Analysis</vt:lpstr>
      <vt:lpstr>Result and Analysis</vt:lpstr>
      <vt:lpstr>Novelty and Uniqueness</vt:lpstr>
      <vt:lpstr>Conclusion</vt:lpstr>
      <vt:lpstr>References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Ridwan Sharif</cp:lastModifiedBy>
  <cp:revision>259</cp:revision>
  <dcterms:created xsi:type="dcterms:W3CDTF">2011-07-17T02:56:35Z</dcterms:created>
  <dcterms:modified xsi:type="dcterms:W3CDTF">2025-09-25T05:27:48Z</dcterms:modified>
</cp:coreProperties>
</file>